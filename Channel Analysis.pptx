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13CD7C3-7929-4B9D-AAF9-FEFC86B698EC}">
  <a:tblStyle styleId="{313CD7C3-7929-4B9D-AAF9-FEFC86B698E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oppins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fdd18a7a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fdd18a7a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2cd46118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2cd46118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fdd18a7a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fdd18a7a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Referral ratio </a:t>
            </a:r>
            <a:r>
              <a:rPr lang="en-GB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suggests potential under investment in growth; could spend more to scale efficiently.</a:t>
            </a:r>
            <a:endParaRPr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211A3B"/>
              </a:buClr>
              <a:buSzPts val="1100"/>
              <a:buFont typeface="Lato"/>
              <a:buChar char="-"/>
            </a:pPr>
            <a:r>
              <a:rPr lang="en-GB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Our channels are widely unequal where some channels are returning 15x the investment made to earn a customer.</a:t>
            </a:r>
            <a:endParaRPr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211A3B"/>
              </a:buClr>
              <a:buSzPts val="1100"/>
              <a:buFont typeface="Lato"/>
              <a:buChar char="-"/>
            </a:pPr>
            <a:r>
              <a:rPr lang="en-GB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-GB" sz="1200">
                <a:solidFill>
                  <a:schemeClr val="dk1"/>
                </a:solidFill>
              </a:rPr>
              <a:t>Ratio &lt; 1:1: Losing money on each customer; unsustainable growth.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-GB" sz="1200">
                <a:solidFill>
                  <a:schemeClr val="dk1"/>
                </a:solidFill>
              </a:rPr>
              <a:t>Ratio ≈ 3:1: Healthy; each customer generates roughly three times the acquisition cost. </a:t>
            </a:r>
            <a:endParaRPr sz="12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200">
                <a:solidFill>
                  <a:schemeClr val="dk1"/>
                </a:solidFill>
              </a:rPr>
              <a:t>Ratio &gt; 5:1: Potential under-investment in growth; could spend more to scale efficiently</a:t>
            </a:r>
            <a:r>
              <a:rPr lang="en-GB">
                <a:solidFill>
                  <a:schemeClr val="dk1"/>
                </a:solidFill>
              </a:rPr>
              <a:t> </a:t>
            </a:r>
            <a:endParaRPr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fdd18a7a6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fdd18a7a6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2cd46118f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f2cd46118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fdd18a7a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efdd18a7a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LTV:CAC - e.g., for referral: a typical customer from this channel generates ~15x the cost to acquire them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Referral has r</a:t>
            </a:r>
            <a:r>
              <a:rPr lang="en-GB"/>
              <a:t>oom for growth</a:t>
            </a:r>
            <a:r>
              <a:rPr lang="en-GB" sz="900"/>
              <a:t> </a:t>
            </a:r>
            <a:r>
              <a:rPr lang="en-GB">
                <a:solidFill>
                  <a:srgbClr val="211A3B"/>
                </a:solidFill>
              </a:rPr>
              <a:t>(11.92% of customers is a smaller proportion of the overall customer base)</a:t>
            </a:r>
            <a:endParaRPr>
              <a:solidFill>
                <a:srgbClr val="211A3B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211A3B"/>
              </a:buClr>
              <a:buSzPts val="1100"/>
              <a:buChar char="-"/>
            </a:pPr>
            <a:r>
              <a:rPr lang="en-GB">
                <a:solidFill>
                  <a:srgbClr val="211A3B"/>
                </a:solidFill>
              </a:rPr>
              <a:t>Compared with other channels, referral has the lowest churn rate across all tiers of account.</a:t>
            </a:r>
            <a:endParaRPr>
              <a:solidFill>
                <a:srgbClr val="211A3B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211A3B"/>
              </a:buClr>
              <a:buSzPts val="1100"/>
              <a:buChar char="-"/>
            </a:pPr>
            <a:r>
              <a:rPr lang="en-GB">
                <a:solidFill>
                  <a:srgbClr val="211A3B"/>
                </a:solidFill>
              </a:rPr>
              <a:t>Over-indexed channels have a </a:t>
            </a:r>
            <a:r>
              <a:rPr b="1" lang="en-GB">
                <a:solidFill>
                  <a:srgbClr val="211A3B"/>
                </a:solidFill>
              </a:rPr>
              <a:t>large </a:t>
            </a:r>
            <a:r>
              <a:rPr lang="en-GB">
                <a:solidFill>
                  <a:srgbClr val="211A3B"/>
                </a:solidFill>
              </a:rPr>
              <a:t>proportion of high value customers (80th percentile for revenue generated)</a:t>
            </a:r>
            <a:endParaRPr>
              <a:solidFill>
                <a:srgbClr val="211A3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11A3B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2d2d5796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f2d2d5796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2d2d5796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f2d2d5796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2cf3f911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f2cf3f911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Room for growth (11.9%)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2cf3f9116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f2cf3f9116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2d2d5796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2d2d5796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6F4FC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892625" y="2120250"/>
            <a:ext cx="5581200" cy="90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6"/>
              <a:buFont typeface="Arial"/>
              <a:buNone/>
            </a:pPr>
            <a:r>
              <a:t/>
            </a:r>
            <a:endParaRPr b="1" sz="3600">
              <a:highlight>
                <a:srgbClr val="EFEFEF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11A3B"/>
                </a:solidFill>
                <a:latin typeface="Poppins"/>
                <a:ea typeface="Poppins"/>
                <a:cs typeface="Poppins"/>
                <a:sym typeface="Poppins"/>
              </a:rPr>
              <a:t>Channel Analysis</a:t>
            </a:r>
            <a:endParaRPr b="1">
              <a:solidFill>
                <a:srgbClr val="211A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1265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-GB" sz="2390">
                <a:solidFill>
                  <a:srgbClr val="6C2BD9"/>
                </a:solidFill>
                <a:latin typeface="Lato"/>
                <a:ea typeface="Lato"/>
                <a:cs typeface="Lato"/>
                <a:sym typeface="Lato"/>
              </a:rPr>
              <a:t>Exploratory Data Analysis and S</a:t>
            </a:r>
            <a:r>
              <a:rPr lang="en-GB" sz="2390">
                <a:solidFill>
                  <a:srgbClr val="6C2BD9"/>
                </a:solidFill>
                <a:latin typeface="Lato"/>
                <a:ea typeface="Lato"/>
                <a:cs typeface="Lato"/>
                <a:sym typeface="Lato"/>
              </a:rPr>
              <a:t>trategic</a:t>
            </a:r>
            <a:r>
              <a:rPr lang="en-GB" sz="2390">
                <a:solidFill>
                  <a:srgbClr val="6C2BD9"/>
                </a:solidFill>
                <a:latin typeface="Lato"/>
                <a:ea typeface="Lato"/>
                <a:cs typeface="Lato"/>
                <a:sym typeface="Lato"/>
              </a:rPr>
              <a:t> Review of Packaged Current Accounts</a:t>
            </a:r>
            <a:endParaRPr sz="2390">
              <a:solidFill>
                <a:srgbClr val="6C2BD9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6" name="Google Shape;56;p13" title="moneycraft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3525" y="988825"/>
            <a:ext cx="4182600" cy="113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11A3B"/>
                </a:solidFill>
                <a:latin typeface="Poppins"/>
                <a:ea typeface="Poppins"/>
                <a:cs typeface="Poppins"/>
                <a:sym typeface="Poppins"/>
              </a:rPr>
              <a:t>Money, Crafted </a:t>
            </a:r>
            <a:r>
              <a:rPr b="1" lang="en-GB">
                <a:solidFill>
                  <a:srgbClr val="6C2BD9"/>
                </a:solidFill>
                <a:latin typeface="Poppins"/>
                <a:ea typeface="Poppins"/>
                <a:cs typeface="Poppins"/>
                <a:sym typeface="Poppins"/>
              </a:rPr>
              <a:t>Today. </a:t>
            </a:r>
            <a:endParaRPr b="1">
              <a:solidFill>
                <a:srgbClr val="6C2B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608525" y="1495425"/>
            <a:ext cx="2967000" cy="1291800"/>
          </a:xfrm>
          <a:prstGeom prst="roundRect">
            <a:avLst>
              <a:gd fmla="val 16667" name="adj"/>
            </a:avLst>
          </a:prstGeom>
          <a:solidFill>
            <a:srgbClr val="E9E1FA"/>
          </a:solidFill>
          <a:ln cap="flat" cmpd="sng" w="9525">
            <a:solidFill>
              <a:srgbClr val="E9E1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2DD4B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2DD4B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2DD4B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2DD4B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DD4BF"/>
                </a:solidFill>
                <a:latin typeface="Lato"/>
                <a:ea typeface="Lato"/>
                <a:cs typeface="Lato"/>
                <a:sym typeface="Lato"/>
              </a:rPr>
              <a:t>Budget of </a:t>
            </a:r>
            <a:endParaRPr b="1" sz="2000">
              <a:solidFill>
                <a:srgbClr val="2DD4B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DD4BF"/>
                </a:solidFill>
                <a:latin typeface="Lato"/>
                <a:ea typeface="Lato"/>
                <a:cs typeface="Lato"/>
                <a:sym typeface="Lato"/>
              </a:rPr>
              <a:t>£150,000 across six channels</a:t>
            </a:r>
            <a:endParaRPr b="1" sz="2000">
              <a:solidFill>
                <a:srgbClr val="2DD4B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2DD4B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2DD4B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2DD4B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2DD4B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3" name="Google Shape;63;p14" title="moneycraft_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525" y="1180150"/>
            <a:ext cx="675850" cy="67585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/>
          <p:nvPr/>
        </p:nvSpPr>
        <p:spPr>
          <a:xfrm>
            <a:off x="987575" y="3101250"/>
            <a:ext cx="2208900" cy="1644900"/>
          </a:xfrm>
          <a:prstGeom prst="roundRect">
            <a:avLst>
              <a:gd fmla="val 16667" name="adj"/>
            </a:avLst>
          </a:prstGeom>
          <a:solidFill>
            <a:srgbClr val="E9E1FA"/>
          </a:solidFill>
          <a:ln cap="flat" cmpd="sng" w="9525">
            <a:solidFill>
              <a:srgbClr val="E9E1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Important Metrics:</a:t>
            </a:r>
            <a:endParaRPr b="1"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211A3B"/>
              </a:buClr>
              <a:buSzPts val="1400"/>
              <a:buFont typeface="Lato"/>
              <a:buAutoNum type="arabicParenR"/>
            </a:pPr>
            <a:r>
              <a:rPr lang="en-GB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Churn rate</a:t>
            </a:r>
            <a:endParaRPr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211A3B"/>
              </a:buClr>
              <a:buSzPts val="1400"/>
              <a:buFont typeface="Lato"/>
              <a:buAutoNum type="arabicParenR"/>
            </a:pPr>
            <a:r>
              <a:rPr lang="en-GB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Cost </a:t>
            </a:r>
            <a:r>
              <a:rPr i="1" lang="en-GB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vs. </a:t>
            </a:r>
            <a:r>
              <a:rPr lang="en-GB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Value</a:t>
            </a:r>
            <a:endParaRPr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211A3B"/>
              </a:buClr>
              <a:buSzPts val="1400"/>
              <a:buFont typeface="Lato"/>
              <a:buAutoNum type="arabicParenR"/>
            </a:pPr>
            <a:r>
              <a:rPr lang="en-GB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High Value Customer Index</a:t>
            </a:r>
            <a:endParaRPr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5" name="Google Shape;65;p14" title="Aquisition Channels of Customers.png"/>
          <p:cNvPicPr preferRelativeResize="0"/>
          <p:nvPr/>
        </p:nvPicPr>
        <p:blipFill rotWithShape="1">
          <a:blip r:embed="rId4">
            <a:alphaModFix/>
          </a:blip>
          <a:srcRect b="8051" l="0" r="0" t="7289"/>
          <a:stretch/>
        </p:blipFill>
        <p:spPr>
          <a:xfrm>
            <a:off x="4549257" y="1300275"/>
            <a:ext cx="4370111" cy="344587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4746303" y="1017727"/>
            <a:ext cx="40860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How Our Customers Find Us</a:t>
            </a:r>
            <a:endParaRPr b="1" sz="1800"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" name="Google Shape;67;p14"/>
          <p:cNvSpPr txBox="1"/>
          <p:nvPr>
            <p:ph idx="4294967295" type="subTitle"/>
          </p:nvPr>
        </p:nvSpPr>
        <p:spPr>
          <a:xfrm>
            <a:off x="8753177" y="4746138"/>
            <a:ext cx="316800" cy="4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rPr lang="en-GB" sz="1200">
                <a:solidFill>
                  <a:srgbClr val="211A3B"/>
                </a:solidFill>
              </a:rPr>
              <a:t>1</a:t>
            </a:r>
            <a:endParaRPr sz="1200">
              <a:solidFill>
                <a:srgbClr val="211A3B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411571" y="425656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11A3B"/>
                </a:solidFill>
                <a:latin typeface="Poppins"/>
                <a:ea typeface="Poppins"/>
                <a:cs typeface="Poppins"/>
                <a:sym typeface="Poppins"/>
              </a:rPr>
              <a:t>Twelve Month Churn Rate by </a:t>
            </a:r>
            <a:r>
              <a:rPr b="1" lang="en-GB">
                <a:solidFill>
                  <a:srgbClr val="6C2BD9"/>
                </a:solidFill>
                <a:latin typeface="Poppins"/>
                <a:ea typeface="Poppins"/>
                <a:cs typeface="Poppins"/>
                <a:sym typeface="Poppins"/>
              </a:rPr>
              <a:t>Cohort</a:t>
            </a:r>
            <a:endParaRPr b="1">
              <a:solidFill>
                <a:srgbClr val="6C2B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" name="Google Shape;73;p15"/>
          <p:cNvSpPr txBox="1"/>
          <p:nvPr>
            <p:ph idx="4294967295" type="subTitle"/>
          </p:nvPr>
        </p:nvSpPr>
        <p:spPr>
          <a:xfrm>
            <a:off x="8753177" y="4746138"/>
            <a:ext cx="316800" cy="4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rPr lang="en-GB" sz="1200">
                <a:solidFill>
                  <a:srgbClr val="211A3B"/>
                </a:solidFill>
              </a:rPr>
              <a:t>2</a:t>
            </a:r>
            <a:endParaRPr sz="1200">
              <a:solidFill>
                <a:srgbClr val="211A3B"/>
              </a:solidFill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 rotWithShape="1">
          <a:blip r:embed="rId3">
            <a:alphaModFix/>
          </a:blip>
          <a:srcRect b="0" l="0" r="0" t="7158"/>
          <a:stretch/>
        </p:blipFill>
        <p:spPr>
          <a:xfrm>
            <a:off x="110075" y="929070"/>
            <a:ext cx="8908401" cy="365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253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11A3B"/>
                </a:solidFill>
                <a:latin typeface="Poppins"/>
                <a:ea typeface="Poppins"/>
                <a:cs typeface="Poppins"/>
                <a:sym typeface="Poppins"/>
              </a:rPr>
              <a:t>What is Each Channel </a:t>
            </a:r>
            <a:r>
              <a:rPr b="1" lang="en-GB">
                <a:solidFill>
                  <a:srgbClr val="6C2BD9"/>
                </a:solidFill>
                <a:latin typeface="Poppins"/>
                <a:ea typeface="Poppins"/>
                <a:cs typeface="Poppins"/>
                <a:sym typeface="Poppins"/>
              </a:rPr>
              <a:t>W</a:t>
            </a:r>
            <a:r>
              <a:rPr b="1" lang="en-GB">
                <a:solidFill>
                  <a:srgbClr val="6C2BD9"/>
                </a:solidFill>
                <a:latin typeface="Poppins"/>
                <a:ea typeface="Poppins"/>
                <a:cs typeface="Poppins"/>
                <a:sym typeface="Poppins"/>
              </a:rPr>
              <a:t>orth?</a:t>
            </a:r>
            <a:endParaRPr b="1">
              <a:solidFill>
                <a:srgbClr val="6C2B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376675" y="1343800"/>
            <a:ext cx="2224200" cy="3241500"/>
          </a:xfrm>
          <a:prstGeom prst="roundRect">
            <a:avLst>
              <a:gd fmla="val 16667" name="adj"/>
            </a:avLst>
          </a:prstGeom>
          <a:solidFill>
            <a:srgbClr val="E9E1FA"/>
          </a:solidFill>
          <a:ln cap="flat" cmpd="sng" w="9525">
            <a:solidFill>
              <a:srgbClr val="F6F4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Comparing Cost </a:t>
            </a:r>
            <a:r>
              <a:rPr b="1" i="1"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vs.</a:t>
            </a:r>
            <a:r>
              <a:rPr b="1"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 Value</a:t>
            </a:r>
            <a:endParaRPr sz="1300"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11A3B"/>
              </a:buClr>
              <a:buSzPts val="1300"/>
              <a:buFont typeface="Lato"/>
              <a:buChar char="●"/>
            </a:pPr>
            <a:r>
              <a:rPr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Each customer from </a:t>
            </a:r>
            <a:r>
              <a:rPr b="1"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Referral</a:t>
            </a:r>
            <a:r>
              <a:rPr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 generates around </a:t>
            </a:r>
            <a:r>
              <a:rPr b="1"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15x more </a:t>
            </a:r>
            <a:r>
              <a:rPr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than the</a:t>
            </a:r>
            <a:r>
              <a:rPr b="1"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Acquisition cost. </a:t>
            </a:r>
            <a:endParaRPr sz="1300"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11A3B"/>
              </a:buClr>
              <a:buSzPts val="1300"/>
              <a:buFont typeface="Lato"/>
              <a:buChar char="●"/>
            </a:pPr>
            <a:r>
              <a:rPr b="1"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Outbound</a:t>
            </a:r>
            <a:r>
              <a:rPr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 only just covers its costs in comparison to the other channels.</a:t>
            </a:r>
            <a:endParaRPr b="1" sz="1300"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3456425" y="924025"/>
            <a:ext cx="31944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LTV:CAC Ratio by Channel</a:t>
            </a:r>
            <a:endParaRPr b="1" sz="1800"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2" name="Google Shape;82;p16" title="ltv to cac RATIO graph.png"/>
          <p:cNvPicPr preferRelativeResize="0"/>
          <p:nvPr/>
        </p:nvPicPr>
        <p:blipFill rotWithShape="1">
          <a:blip r:embed="rId3">
            <a:alphaModFix/>
          </a:blip>
          <a:srcRect b="0" l="0" r="0" t="10969"/>
          <a:stretch/>
        </p:blipFill>
        <p:spPr>
          <a:xfrm>
            <a:off x="2644400" y="1343800"/>
            <a:ext cx="6552950" cy="3461476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>
            <p:ph idx="4294967295" type="subTitle"/>
          </p:nvPr>
        </p:nvSpPr>
        <p:spPr>
          <a:xfrm>
            <a:off x="8753177" y="4746138"/>
            <a:ext cx="316800" cy="4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rPr lang="en-GB" sz="1200">
                <a:solidFill>
                  <a:srgbClr val="211A3B"/>
                </a:solidFill>
              </a:rPr>
              <a:t>3</a:t>
            </a:r>
            <a:endParaRPr sz="1200">
              <a:solidFill>
                <a:srgbClr val="211A3B"/>
              </a:solidFill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4006968" y="4041307"/>
            <a:ext cx="539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1.70</a:t>
            </a:r>
            <a:endParaRPr b="1" sz="1100">
              <a:solidFill>
                <a:srgbClr val="211A3B"/>
              </a:solidFill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4495087" y="3510200"/>
            <a:ext cx="539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3.00</a:t>
            </a:r>
            <a:endParaRPr b="1" sz="1100">
              <a:solidFill>
                <a:srgbClr val="211A3B"/>
              </a:solidFill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4690221" y="3004731"/>
            <a:ext cx="539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6F4FC"/>
                </a:solidFill>
                <a:latin typeface="Lato"/>
                <a:ea typeface="Lato"/>
                <a:cs typeface="Lato"/>
                <a:sym typeface="Lato"/>
              </a:rPr>
              <a:t>4.63</a:t>
            </a:r>
            <a:endParaRPr b="1" sz="1100">
              <a:solidFill>
                <a:srgbClr val="F6F4FC"/>
              </a:solidFill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5527542" y="2483519"/>
            <a:ext cx="539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5.78</a:t>
            </a:r>
            <a:endParaRPr b="1" sz="1100">
              <a:solidFill>
                <a:srgbClr val="211A3B"/>
              </a:solidFill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5756843" y="1969494"/>
            <a:ext cx="539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6.28</a:t>
            </a:r>
            <a:endParaRPr b="1" sz="1100">
              <a:solidFill>
                <a:srgbClr val="211A3B"/>
              </a:solidFill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8354228" y="1448331"/>
            <a:ext cx="539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6F4FC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="1" lang="en-GB" sz="1100">
                <a:solidFill>
                  <a:srgbClr val="F6F4FC"/>
                </a:solidFill>
                <a:latin typeface="Lato"/>
                <a:ea typeface="Lato"/>
                <a:cs typeface="Lato"/>
                <a:sym typeface="Lato"/>
              </a:rPr>
              <a:t>4.74</a:t>
            </a:r>
            <a:endParaRPr b="1" sz="1100">
              <a:solidFill>
                <a:srgbClr val="F6F4FC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 title="Index Value for high value customers by Channel.png"/>
          <p:cNvPicPr preferRelativeResize="0"/>
          <p:nvPr/>
        </p:nvPicPr>
        <p:blipFill rotWithShape="1">
          <a:blip r:embed="rId3">
            <a:alphaModFix/>
          </a:blip>
          <a:srcRect b="0" l="0" r="0" t="5384"/>
          <a:stretch/>
        </p:blipFill>
        <p:spPr>
          <a:xfrm>
            <a:off x="67425" y="1235575"/>
            <a:ext cx="6420675" cy="3755524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/>
          <p:nvPr/>
        </p:nvSpPr>
        <p:spPr>
          <a:xfrm>
            <a:off x="6709800" y="859750"/>
            <a:ext cx="2252400" cy="3952500"/>
          </a:xfrm>
          <a:prstGeom prst="roundRect">
            <a:avLst>
              <a:gd fmla="val 16667" name="adj"/>
            </a:avLst>
          </a:prstGeom>
          <a:solidFill>
            <a:srgbClr val="E9E1FA"/>
          </a:solidFill>
          <a:ln cap="flat" cmpd="sng" w="9525">
            <a:solidFill>
              <a:srgbClr val="E9E1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High value customers </a:t>
            </a:r>
            <a:r>
              <a:rPr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= Top 20% of customers by Total Revenue.</a:t>
            </a:r>
            <a:endParaRPr sz="1300"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High value customers are </a:t>
            </a:r>
            <a:r>
              <a:rPr b="1"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over-represented </a:t>
            </a:r>
            <a:r>
              <a:rPr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in:</a:t>
            </a:r>
            <a:endParaRPr sz="1300"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11A3B"/>
              </a:buClr>
              <a:buSzPts val="1300"/>
              <a:buFont typeface="Lato"/>
              <a:buAutoNum type="arabicParenBoth"/>
            </a:pPr>
            <a:r>
              <a:rPr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Broker/IFA</a:t>
            </a:r>
            <a:endParaRPr sz="1300"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11A3B"/>
              </a:buClr>
              <a:buSzPts val="1300"/>
              <a:buFont typeface="Lato"/>
              <a:buAutoNum type="arabicParenBoth"/>
            </a:pPr>
            <a:r>
              <a:rPr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Branch</a:t>
            </a:r>
            <a:endParaRPr sz="1300"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11A3B"/>
              </a:buClr>
              <a:buSzPts val="1300"/>
              <a:buFont typeface="Lato"/>
              <a:buAutoNum type="arabicParenBoth"/>
            </a:pPr>
            <a:r>
              <a:rPr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Referral</a:t>
            </a:r>
            <a:endParaRPr sz="1300"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High value customers are </a:t>
            </a:r>
            <a:r>
              <a:rPr b="1"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under</a:t>
            </a:r>
            <a:r>
              <a:rPr b="1"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-represented</a:t>
            </a:r>
            <a:r>
              <a:rPr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 in:</a:t>
            </a:r>
            <a:endParaRPr sz="1300"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11A3B"/>
              </a:buClr>
              <a:buSzPts val="1300"/>
              <a:buFont typeface="Lato"/>
              <a:buAutoNum type="arabicParenBoth"/>
            </a:pPr>
            <a:r>
              <a:rPr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Online</a:t>
            </a:r>
            <a:endParaRPr sz="1300"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11A3B"/>
              </a:buClr>
              <a:buSzPts val="1300"/>
              <a:buFont typeface="Lato"/>
              <a:buAutoNum type="arabicParenBoth"/>
            </a:pPr>
            <a:r>
              <a:rPr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Outbound</a:t>
            </a:r>
            <a:endParaRPr sz="1300"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11A3B"/>
              </a:buClr>
              <a:buSzPts val="1300"/>
              <a:buFont typeface="Lato"/>
              <a:buAutoNum type="arabicParenBoth"/>
            </a:pPr>
            <a:r>
              <a:rPr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Comparison Site</a:t>
            </a:r>
            <a:endParaRPr b="1" sz="1300"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474972" y="836581"/>
            <a:ext cx="54252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Index Value for High Value Customers by Channel</a:t>
            </a:r>
            <a:endParaRPr b="1" sz="1800"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7"/>
          <p:cNvSpPr/>
          <p:nvPr/>
        </p:nvSpPr>
        <p:spPr>
          <a:xfrm rot="1233363">
            <a:off x="3161017" y="2510053"/>
            <a:ext cx="222998" cy="571489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2DD4BF"/>
          </a:solidFill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7"/>
          <p:cNvSpPr/>
          <p:nvPr/>
        </p:nvSpPr>
        <p:spPr>
          <a:xfrm>
            <a:off x="3574525" y="1814575"/>
            <a:ext cx="1721700" cy="1104600"/>
          </a:xfrm>
          <a:prstGeom prst="roundRect">
            <a:avLst>
              <a:gd fmla="val 16667" name="adj"/>
            </a:avLst>
          </a:prstGeom>
          <a:solidFill>
            <a:srgbClr val="8B5CF6"/>
          </a:solidFill>
          <a:ln cap="flat" cmpd="sng" w="9525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6F4FC"/>
                </a:solidFill>
                <a:latin typeface="Lato"/>
                <a:ea typeface="Lato"/>
                <a:cs typeface="Lato"/>
                <a:sym typeface="Lato"/>
              </a:rPr>
              <a:t>159 = A high value customer is </a:t>
            </a:r>
            <a:r>
              <a:rPr b="1" lang="en-GB" sz="1100">
                <a:solidFill>
                  <a:srgbClr val="F6F4FC"/>
                </a:solidFill>
                <a:latin typeface="Lato"/>
                <a:ea typeface="Lato"/>
                <a:cs typeface="Lato"/>
                <a:sym typeface="Lato"/>
              </a:rPr>
              <a:t>59% more</a:t>
            </a:r>
            <a:r>
              <a:rPr lang="en-GB" sz="1100">
                <a:solidFill>
                  <a:srgbClr val="F6F4FC"/>
                </a:solidFill>
                <a:latin typeface="Lato"/>
                <a:ea typeface="Lato"/>
                <a:cs typeface="Lato"/>
                <a:sym typeface="Lato"/>
              </a:rPr>
              <a:t> likely to arrive to Money Craft through </a:t>
            </a:r>
            <a:r>
              <a:rPr b="1" lang="en-GB" sz="1100">
                <a:solidFill>
                  <a:srgbClr val="F6F4FC"/>
                </a:solidFill>
                <a:latin typeface="Lato"/>
                <a:ea typeface="Lato"/>
                <a:cs typeface="Lato"/>
                <a:sym typeface="Lato"/>
              </a:rPr>
              <a:t>Referrals </a:t>
            </a:r>
            <a:r>
              <a:rPr lang="en-GB" sz="1100">
                <a:solidFill>
                  <a:srgbClr val="F6F4FC"/>
                </a:solidFill>
                <a:latin typeface="Lato"/>
                <a:ea typeface="Lato"/>
                <a:cs typeface="Lato"/>
                <a:sym typeface="Lato"/>
              </a:rPr>
              <a:t>than a typical customer</a:t>
            </a:r>
            <a:endParaRPr sz="1100">
              <a:solidFill>
                <a:srgbClr val="F6F4F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559925" y="196950"/>
            <a:ext cx="72552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500">
                <a:solidFill>
                  <a:srgbClr val="211A3B"/>
                </a:solidFill>
                <a:latin typeface="Poppins"/>
                <a:ea typeface="Poppins"/>
                <a:cs typeface="Poppins"/>
                <a:sym typeface="Poppins"/>
              </a:rPr>
              <a:t>Where Are the </a:t>
            </a:r>
            <a:r>
              <a:rPr b="1" lang="en-GB" sz="2500">
                <a:solidFill>
                  <a:srgbClr val="6C2BD9"/>
                </a:solidFill>
                <a:latin typeface="Poppins"/>
                <a:ea typeface="Poppins"/>
                <a:cs typeface="Poppins"/>
                <a:sym typeface="Poppins"/>
              </a:rPr>
              <a:t>High Value </a:t>
            </a:r>
            <a:r>
              <a:rPr b="1" lang="en-GB" sz="2500">
                <a:solidFill>
                  <a:srgbClr val="211A3B"/>
                </a:solidFill>
                <a:latin typeface="Poppins"/>
                <a:ea typeface="Poppins"/>
                <a:cs typeface="Poppins"/>
                <a:sym typeface="Poppins"/>
              </a:rPr>
              <a:t>Customers?</a:t>
            </a:r>
            <a:endParaRPr sz="1500">
              <a:solidFill>
                <a:srgbClr val="211A3B"/>
              </a:solidFill>
            </a:endParaRPr>
          </a:p>
        </p:txBody>
      </p:sp>
      <p:sp>
        <p:nvSpPr>
          <p:cNvPr id="100" name="Google Shape;100;p17"/>
          <p:cNvSpPr txBox="1"/>
          <p:nvPr>
            <p:ph idx="4294967295" type="subTitle"/>
          </p:nvPr>
        </p:nvSpPr>
        <p:spPr>
          <a:xfrm>
            <a:off x="8753177" y="4746138"/>
            <a:ext cx="316800" cy="4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rPr lang="en-GB" sz="1200">
                <a:solidFill>
                  <a:srgbClr val="211A3B"/>
                </a:solidFill>
              </a:rPr>
              <a:t>4</a:t>
            </a:r>
            <a:endParaRPr sz="1200">
              <a:solidFill>
                <a:srgbClr val="211A3B"/>
              </a:solidFill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717265" y="1460581"/>
            <a:ext cx="539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6F4FC"/>
                </a:solidFill>
                <a:latin typeface="Lato"/>
                <a:ea typeface="Lato"/>
                <a:cs typeface="Lato"/>
                <a:sym typeface="Lato"/>
              </a:rPr>
              <a:t>329</a:t>
            </a:r>
            <a:endParaRPr b="1" sz="1100">
              <a:solidFill>
                <a:srgbClr val="F6F4FC"/>
              </a:solidFill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1698438" y="2006006"/>
            <a:ext cx="539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6F4FC"/>
                </a:solidFill>
                <a:latin typeface="Lato"/>
                <a:ea typeface="Lato"/>
                <a:cs typeface="Lato"/>
                <a:sym typeface="Lato"/>
              </a:rPr>
              <a:t>274</a:t>
            </a:r>
            <a:endParaRPr b="1" sz="1100">
              <a:solidFill>
                <a:srgbClr val="F6F4FC"/>
              </a:solidFill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2671060" y="3166599"/>
            <a:ext cx="539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6F4FC"/>
                </a:solidFill>
                <a:latin typeface="Lato"/>
                <a:ea typeface="Lato"/>
                <a:cs typeface="Lato"/>
                <a:sym typeface="Lato"/>
              </a:rPr>
              <a:t>159</a:t>
            </a:r>
            <a:endParaRPr b="1" sz="1100">
              <a:solidFill>
                <a:srgbClr val="F6F4FC"/>
              </a:solidFill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3618034" y="4233230"/>
            <a:ext cx="539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6F4FC"/>
                </a:solidFill>
                <a:latin typeface="Lato"/>
                <a:ea typeface="Lato"/>
                <a:cs typeface="Lato"/>
                <a:sym typeface="Lato"/>
              </a:rPr>
              <a:t>50</a:t>
            </a:r>
            <a:endParaRPr b="1" sz="1100">
              <a:solidFill>
                <a:srgbClr val="F6F4FC"/>
              </a:solidFill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4599206" y="4449711"/>
            <a:ext cx="539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6F4FC"/>
                </a:solidFill>
                <a:latin typeface="Lato"/>
                <a:ea typeface="Lato"/>
                <a:cs typeface="Lato"/>
                <a:sym typeface="Lato"/>
              </a:rPr>
              <a:t>24</a:t>
            </a:r>
            <a:endParaRPr b="1" sz="1100">
              <a:solidFill>
                <a:srgbClr val="F6F4FC"/>
              </a:solidFill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5680141" y="4375712"/>
            <a:ext cx="539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8</a:t>
            </a:r>
            <a:endParaRPr b="1" sz="1100">
              <a:solidFill>
                <a:srgbClr val="211A3B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8" title="heatma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600" y="1056550"/>
            <a:ext cx="5923151" cy="406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 txBox="1"/>
          <p:nvPr/>
        </p:nvSpPr>
        <p:spPr>
          <a:xfrm>
            <a:off x="1160850" y="759579"/>
            <a:ext cx="47646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8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Churn rate by Channel and Tier</a:t>
            </a:r>
            <a:endParaRPr b="1" sz="2200">
              <a:solidFill>
                <a:schemeClr val="dk2"/>
              </a:solidFill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397500" y="210081"/>
            <a:ext cx="76503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solidFill>
                  <a:srgbClr val="211A3B"/>
                </a:solidFill>
                <a:latin typeface="Poppins"/>
                <a:ea typeface="Poppins"/>
                <a:cs typeface="Poppins"/>
                <a:sym typeface="Poppins"/>
              </a:rPr>
              <a:t>Where does </a:t>
            </a:r>
            <a:r>
              <a:rPr b="1" lang="en-GB" sz="2500">
                <a:solidFill>
                  <a:srgbClr val="6C2BD9"/>
                </a:solidFill>
                <a:latin typeface="Poppins"/>
                <a:ea typeface="Poppins"/>
                <a:cs typeface="Poppins"/>
                <a:sym typeface="Poppins"/>
              </a:rPr>
              <a:t>Churn </a:t>
            </a:r>
            <a:r>
              <a:rPr b="1" lang="en-GB" sz="2500">
                <a:solidFill>
                  <a:srgbClr val="211A3B"/>
                </a:solidFill>
                <a:latin typeface="Poppins"/>
                <a:ea typeface="Poppins"/>
                <a:cs typeface="Poppins"/>
                <a:sym typeface="Poppins"/>
              </a:rPr>
              <a:t>Come From?</a:t>
            </a:r>
            <a:endParaRPr sz="1500">
              <a:solidFill>
                <a:srgbClr val="211A3B"/>
              </a:solidFill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6522375" y="1597750"/>
            <a:ext cx="2423100" cy="2571600"/>
          </a:xfrm>
          <a:prstGeom prst="roundRect">
            <a:avLst>
              <a:gd fmla="val 16667" name="adj"/>
            </a:avLst>
          </a:prstGeom>
          <a:solidFill>
            <a:srgbClr val="E9E1FA"/>
          </a:solidFill>
          <a:ln cap="flat" cmpd="sng" w="9525">
            <a:solidFill>
              <a:srgbClr val="E9E1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11A3B"/>
              </a:buClr>
              <a:buSzPts val="1300"/>
              <a:buFont typeface="Lato"/>
              <a:buChar char="●"/>
            </a:pPr>
            <a:r>
              <a:rPr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The</a:t>
            </a:r>
            <a:r>
              <a:rPr b="1"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 Referral </a:t>
            </a:r>
            <a:r>
              <a:rPr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channel </a:t>
            </a:r>
            <a:r>
              <a:rPr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contains</a:t>
            </a:r>
            <a:r>
              <a:rPr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 the lowest churn rate over</a:t>
            </a:r>
            <a:r>
              <a:rPr b="1"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 every</a:t>
            </a:r>
            <a:r>
              <a:rPr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 tier.</a:t>
            </a:r>
            <a:endParaRPr sz="1300"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11A3B"/>
              </a:buClr>
              <a:buSzPts val="1300"/>
              <a:buFont typeface="Lato"/>
              <a:buChar char="●"/>
            </a:pPr>
            <a:r>
              <a:rPr b="1"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Outbound </a:t>
            </a:r>
            <a:r>
              <a:rPr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has the highest churn rate in gold and platinum and high churn rates overall.</a:t>
            </a:r>
            <a:endParaRPr sz="1300"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5" name="Google Shape;115;p18"/>
          <p:cNvSpPr txBox="1"/>
          <p:nvPr>
            <p:ph idx="4294967295" type="subTitle"/>
          </p:nvPr>
        </p:nvSpPr>
        <p:spPr>
          <a:xfrm>
            <a:off x="8753177" y="4746138"/>
            <a:ext cx="316800" cy="4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rPr lang="en-GB" sz="1200">
                <a:solidFill>
                  <a:srgbClr val="211A3B"/>
                </a:solidFill>
              </a:rPr>
              <a:t>5</a:t>
            </a:r>
            <a:endParaRPr sz="1200">
              <a:solidFill>
                <a:srgbClr val="211A3B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232575" y="20738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11A3B"/>
                </a:solidFill>
                <a:latin typeface="Poppins"/>
                <a:ea typeface="Poppins"/>
                <a:cs typeface="Poppins"/>
                <a:sym typeface="Poppins"/>
              </a:rPr>
              <a:t>How Can We Improve Our </a:t>
            </a:r>
            <a:r>
              <a:rPr b="1" lang="en-GB">
                <a:solidFill>
                  <a:srgbClr val="6C2BD9"/>
                </a:solidFill>
                <a:latin typeface="Poppins"/>
                <a:ea typeface="Poppins"/>
                <a:cs typeface="Poppins"/>
                <a:sym typeface="Poppins"/>
              </a:rPr>
              <a:t>Budget Allocation?</a:t>
            </a:r>
            <a:endParaRPr b="1">
              <a:solidFill>
                <a:srgbClr val="6C2B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" name="Google Shape;121;p19"/>
          <p:cNvSpPr/>
          <p:nvPr/>
        </p:nvSpPr>
        <p:spPr>
          <a:xfrm>
            <a:off x="127625" y="1290150"/>
            <a:ext cx="2154900" cy="3381600"/>
          </a:xfrm>
          <a:prstGeom prst="roundRect">
            <a:avLst>
              <a:gd fmla="val 16667" name="adj"/>
            </a:avLst>
          </a:prstGeom>
          <a:solidFill>
            <a:srgbClr val="E9E1FA"/>
          </a:solidFill>
          <a:ln cap="flat" cmpd="sng" w="9525">
            <a:solidFill>
              <a:srgbClr val="E9E1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6C2BD9"/>
                </a:solidFill>
                <a:latin typeface="Lato"/>
                <a:ea typeface="Lato"/>
                <a:cs typeface="Lato"/>
                <a:sym typeface="Lato"/>
              </a:rPr>
              <a:t>Referral wins!</a:t>
            </a:r>
            <a:endParaRPr b="1">
              <a:solidFill>
                <a:srgbClr val="6C2BD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6C2BD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11A3B"/>
              </a:buClr>
              <a:buSzPts val="1300"/>
              <a:buFont typeface="Lato"/>
              <a:buChar char="●"/>
            </a:pPr>
            <a:r>
              <a:rPr b="1"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Generates ~15</a:t>
            </a:r>
            <a:r>
              <a:rPr b="1"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x more </a:t>
            </a:r>
            <a:r>
              <a:rPr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money than the</a:t>
            </a:r>
            <a:r>
              <a:rPr b="1"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acquisition cost</a:t>
            </a:r>
            <a:endParaRPr sz="1300"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11A3B"/>
              </a:buClr>
              <a:buSzPts val="1300"/>
              <a:buFont typeface="Lato"/>
              <a:buChar char="●"/>
            </a:pPr>
            <a:r>
              <a:rPr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Room for </a:t>
            </a:r>
            <a:r>
              <a:rPr b="1"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growth </a:t>
            </a:r>
            <a:endParaRPr b="1" sz="1300"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11A3B"/>
              </a:buClr>
              <a:buSzPts val="1300"/>
              <a:buFont typeface="Lato"/>
              <a:buChar char="●"/>
            </a:pPr>
            <a:r>
              <a:rPr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L</a:t>
            </a:r>
            <a:r>
              <a:rPr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ower churn</a:t>
            </a:r>
            <a:endParaRPr sz="1300"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11A3B"/>
              </a:buClr>
              <a:buSzPts val="1300"/>
              <a:buFont typeface="Lato"/>
              <a:buChar char="●"/>
            </a:pPr>
            <a:r>
              <a:rPr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High value customers are </a:t>
            </a:r>
            <a:r>
              <a:rPr b="1"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over-represented</a:t>
            </a:r>
            <a:endParaRPr sz="1300"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" name="Google Shape;122;p19"/>
          <p:cNvSpPr/>
          <p:nvPr/>
        </p:nvSpPr>
        <p:spPr>
          <a:xfrm>
            <a:off x="7016675" y="2332450"/>
            <a:ext cx="2057400" cy="2339100"/>
          </a:xfrm>
          <a:prstGeom prst="roundRect">
            <a:avLst>
              <a:gd fmla="val 16667" name="adj"/>
            </a:avLst>
          </a:prstGeom>
          <a:solidFill>
            <a:srgbClr val="E9E1FA"/>
          </a:solidFill>
          <a:ln cap="flat" cmpd="sng" w="9525">
            <a:solidFill>
              <a:srgbClr val="E9E1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6C2BD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6C2BD9"/>
                </a:solidFill>
                <a:latin typeface="Lato"/>
                <a:ea typeface="Lato"/>
                <a:cs typeface="Lato"/>
                <a:sym typeface="Lato"/>
              </a:rPr>
              <a:t>Outbound </a:t>
            </a:r>
            <a:r>
              <a:rPr b="1" lang="en-GB">
                <a:solidFill>
                  <a:srgbClr val="6C2BD9"/>
                </a:solidFill>
                <a:latin typeface="Lato"/>
                <a:ea typeface="Lato"/>
                <a:cs typeface="Lato"/>
                <a:sym typeface="Lato"/>
              </a:rPr>
              <a:t>loses</a:t>
            </a:r>
            <a:r>
              <a:rPr b="1" lang="en-GB">
                <a:solidFill>
                  <a:srgbClr val="6C2BD9"/>
                </a:solidFill>
                <a:latin typeface="Lato"/>
                <a:ea typeface="Lato"/>
                <a:cs typeface="Lato"/>
                <a:sym typeface="Lato"/>
              </a:rPr>
              <a:t>!</a:t>
            </a:r>
            <a:endParaRPr b="1">
              <a:solidFill>
                <a:srgbClr val="6C2BD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6C2BD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211A3B"/>
              </a:buClr>
              <a:buSzPts val="1400"/>
              <a:buFont typeface="Lato"/>
              <a:buChar char="●"/>
            </a:pPr>
            <a:r>
              <a:rPr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Generates </a:t>
            </a:r>
            <a:r>
              <a:rPr b="1"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only ~1.7x more</a:t>
            </a:r>
            <a:r>
              <a:rPr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 than acquisition cost.</a:t>
            </a:r>
            <a:endParaRPr sz="1300"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11A3B"/>
              </a:buClr>
              <a:buSzPts val="1300"/>
              <a:buFont typeface="Lato"/>
              <a:buChar char="●"/>
            </a:pPr>
            <a:r>
              <a:rPr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A high churn rate over all tiers</a:t>
            </a:r>
            <a:endParaRPr sz="1300"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11A3B"/>
              </a:buClr>
              <a:buSzPts val="1300"/>
              <a:buFont typeface="Lato"/>
              <a:buChar char="●"/>
            </a:pPr>
            <a:r>
              <a:rPr b="1"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Weak </a:t>
            </a:r>
            <a:r>
              <a:rPr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Index</a:t>
            </a:r>
            <a:endParaRPr sz="1300"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" name="Google Shape;123;p19"/>
          <p:cNvSpPr/>
          <p:nvPr/>
        </p:nvSpPr>
        <p:spPr>
          <a:xfrm>
            <a:off x="2452875" y="1555000"/>
            <a:ext cx="2111700" cy="3116400"/>
          </a:xfrm>
          <a:prstGeom prst="roundRect">
            <a:avLst>
              <a:gd fmla="val 16667" name="adj"/>
            </a:avLst>
          </a:prstGeom>
          <a:solidFill>
            <a:srgbClr val="E9E1FA"/>
          </a:solidFill>
          <a:ln cap="flat" cmpd="sng" w="9525">
            <a:solidFill>
              <a:srgbClr val="E9E1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6C2BD9"/>
                </a:solidFill>
                <a:latin typeface="Lato"/>
                <a:ea typeface="Lato"/>
                <a:cs typeface="Lato"/>
                <a:sym typeface="Lato"/>
              </a:rPr>
              <a:t>Branch does well.</a:t>
            </a:r>
            <a:endParaRPr b="1">
              <a:solidFill>
                <a:srgbClr val="6C2BD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6C2BD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11A3B"/>
              </a:buClr>
              <a:buSzPts val="1300"/>
              <a:buFont typeface="Lato"/>
              <a:buChar char="●"/>
            </a:pPr>
            <a:r>
              <a:rPr b="1"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Generates ~6x more </a:t>
            </a:r>
            <a:r>
              <a:rPr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than the</a:t>
            </a:r>
            <a:r>
              <a:rPr b="1"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Acquisition cost</a:t>
            </a:r>
            <a:endParaRPr sz="1300"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11A3B"/>
              </a:buClr>
              <a:buSzPts val="1300"/>
              <a:buFont typeface="Lato"/>
              <a:buChar char="●"/>
            </a:pPr>
            <a:r>
              <a:rPr b="1"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Low to mid </a:t>
            </a:r>
            <a:r>
              <a:rPr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r>
              <a:rPr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hurn</a:t>
            </a:r>
            <a:endParaRPr b="1" sz="1300"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11A3B"/>
              </a:buClr>
              <a:buSzPts val="1300"/>
              <a:buFont typeface="Lato"/>
              <a:buChar char="●"/>
            </a:pPr>
            <a:r>
              <a:rPr b="1"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Good representation</a:t>
            </a:r>
            <a:r>
              <a:rPr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 of h</a:t>
            </a:r>
            <a:r>
              <a:rPr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igh value customers</a:t>
            </a:r>
            <a:endParaRPr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4" name="Google Shape;124;p19"/>
          <p:cNvSpPr txBox="1"/>
          <p:nvPr>
            <p:ph idx="4294967295" type="subTitle"/>
          </p:nvPr>
        </p:nvSpPr>
        <p:spPr>
          <a:xfrm>
            <a:off x="8753177" y="4746138"/>
            <a:ext cx="316800" cy="4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rPr lang="en-GB" sz="1200">
                <a:solidFill>
                  <a:srgbClr val="211A3B"/>
                </a:solidFill>
              </a:rPr>
              <a:t>7</a:t>
            </a:r>
            <a:endParaRPr sz="1200">
              <a:solidFill>
                <a:srgbClr val="211A3B"/>
              </a:solidFill>
            </a:endParaRPr>
          </a:p>
        </p:txBody>
      </p:sp>
      <p:sp>
        <p:nvSpPr>
          <p:cNvPr id="125" name="Google Shape;125;p19"/>
          <p:cNvSpPr/>
          <p:nvPr/>
        </p:nvSpPr>
        <p:spPr>
          <a:xfrm>
            <a:off x="4734775" y="1856000"/>
            <a:ext cx="2111700" cy="2815800"/>
          </a:xfrm>
          <a:prstGeom prst="roundRect">
            <a:avLst>
              <a:gd fmla="val 16667" name="adj"/>
            </a:avLst>
          </a:prstGeom>
          <a:solidFill>
            <a:srgbClr val="E9E1FA"/>
          </a:solidFill>
          <a:ln cap="flat" cmpd="sng" w="9525">
            <a:solidFill>
              <a:srgbClr val="E9E1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6C2BD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6C2BD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6C2BD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6C2BD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6C2BD9"/>
                </a:solidFill>
                <a:latin typeface="Lato"/>
                <a:ea typeface="Lato"/>
                <a:cs typeface="Lato"/>
                <a:sym typeface="Lato"/>
              </a:rPr>
              <a:t>Broker/IFA, Comparison and Online trail behind.</a:t>
            </a:r>
            <a:endParaRPr b="1">
              <a:solidFill>
                <a:srgbClr val="6C2BD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6C2BD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11A3B"/>
              </a:buClr>
              <a:buSzPts val="1300"/>
              <a:buFont typeface="Lato"/>
              <a:buChar char="●"/>
            </a:pPr>
            <a:r>
              <a:rPr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High index for Broker/IFA is not reliable.</a:t>
            </a:r>
            <a:endParaRPr sz="1300"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11A3B"/>
              </a:buClr>
              <a:buSzPts val="1300"/>
              <a:buFont typeface="Lato"/>
              <a:buChar char="●"/>
            </a:pPr>
            <a:r>
              <a:rPr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Comparison and Online represent a </a:t>
            </a:r>
            <a:r>
              <a:rPr b="1"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larger %</a:t>
            </a:r>
            <a:r>
              <a:rPr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 of the customer base</a:t>
            </a:r>
            <a:endParaRPr sz="1300"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6C2BD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6C2BD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6C2BD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6" name="Google Shape;126;p19"/>
          <p:cNvCxnSpPr>
            <a:stCxn id="121" idx="0"/>
            <a:endCxn id="123" idx="0"/>
          </p:cNvCxnSpPr>
          <p:nvPr/>
        </p:nvCxnSpPr>
        <p:spPr>
          <a:xfrm flipH="1" rot="-5400000">
            <a:off x="2224475" y="270750"/>
            <a:ext cx="264900" cy="2303700"/>
          </a:xfrm>
          <a:prstGeom prst="curvedConnector3">
            <a:avLst>
              <a:gd fmla="val -177397" name="adj1"/>
            </a:avLst>
          </a:prstGeom>
          <a:noFill/>
          <a:ln cap="flat" cmpd="sng" w="38100">
            <a:solidFill>
              <a:srgbClr val="8B5CF6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7" name="Google Shape;127;p19"/>
          <p:cNvCxnSpPr>
            <a:stCxn id="123" idx="0"/>
            <a:endCxn id="125" idx="0"/>
          </p:cNvCxnSpPr>
          <p:nvPr/>
        </p:nvCxnSpPr>
        <p:spPr>
          <a:xfrm flipH="1" rot="-5400000">
            <a:off x="4499175" y="564550"/>
            <a:ext cx="300900" cy="2281800"/>
          </a:xfrm>
          <a:prstGeom prst="curvedConnector3">
            <a:avLst>
              <a:gd fmla="val -156165" name="adj1"/>
            </a:avLst>
          </a:prstGeom>
          <a:noFill/>
          <a:ln cap="flat" cmpd="sng" w="38100">
            <a:solidFill>
              <a:srgbClr val="8B5CF6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8" name="Google Shape;128;p19"/>
          <p:cNvCxnSpPr>
            <a:stCxn id="125" idx="0"/>
            <a:endCxn id="122" idx="0"/>
          </p:cNvCxnSpPr>
          <p:nvPr/>
        </p:nvCxnSpPr>
        <p:spPr>
          <a:xfrm flipH="1" rot="-5400000">
            <a:off x="6679825" y="966800"/>
            <a:ext cx="476400" cy="2254800"/>
          </a:xfrm>
          <a:prstGeom prst="curvedConnector3">
            <a:avLst>
              <a:gd fmla="val -95461" name="adj1"/>
            </a:avLst>
          </a:prstGeom>
          <a:noFill/>
          <a:ln cap="flat" cmpd="sng" w="38100">
            <a:solidFill>
              <a:srgbClr val="8B5CF6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20"/>
          <p:cNvGraphicFramePr/>
          <p:nvPr/>
        </p:nvGraphicFramePr>
        <p:xfrm>
          <a:off x="328613" y="213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{313CD7C3-7929-4B9D-AAF9-FEFC86B698EC}</a:tableStyleId>
              </a:tblPr>
              <a:tblGrid>
                <a:gridCol w="1447150"/>
                <a:gridCol w="2839475"/>
                <a:gridCol w="2795625"/>
                <a:gridCol w="1238850"/>
              </a:tblGrid>
              <a:tr h="441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Channel</a:t>
                      </a:r>
                      <a:endParaRPr b="1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1A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Budget from last Quarter</a:t>
                      </a:r>
                      <a:endParaRPr b="1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1A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New Budget Suggestion</a:t>
                      </a:r>
                      <a:endParaRPr b="1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1A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Change</a:t>
                      </a:r>
                      <a:endParaRPr b="1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1A3B"/>
                    </a:solidFill>
                  </a:tcPr>
                </a:tc>
              </a:tr>
              <a:tr h="622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Referral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£13,122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GB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£32,262</a:t>
                      </a:r>
                      <a:endParaRPr sz="11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 £19,140 </a:t>
                      </a:r>
                      <a:endParaRPr sz="11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B5CF6"/>
                    </a:solidFill>
                  </a:tcPr>
                </a:tc>
              </a:tr>
              <a:tr h="622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Branch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C2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£41,027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C2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£45,000</a:t>
                      </a:r>
                      <a:endParaRPr sz="11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C2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GB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 £3,973 </a:t>
                      </a:r>
                      <a:endParaRPr sz="11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C2BD9"/>
                    </a:solidFill>
                  </a:tcPr>
                </a:tc>
              </a:tr>
              <a:tr h="405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Broker/IFA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£19,791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GB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£19,791</a:t>
                      </a:r>
                      <a:endParaRPr sz="11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 change</a:t>
                      </a:r>
                      <a:endParaRPr sz="11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B5CF6"/>
                    </a:solidFill>
                  </a:tcPr>
                </a:tc>
              </a:tr>
              <a:tr h="622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Online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C2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£31,121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C2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GB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£31,121</a:t>
                      </a:r>
                      <a:endParaRPr sz="11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C2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 change</a:t>
                      </a:r>
                      <a:endParaRPr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C2BD9"/>
                    </a:solidFill>
                  </a:tcPr>
                </a:tc>
              </a:tr>
              <a:tr h="622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Comparison Site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£21,826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GB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£21,826</a:t>
                      </a:r>
                      <a:endParaRPr sz="11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 change</a:t>
                      </a:r>
                      <a:endParaRPr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B5CF6"/>
                    </a:solidFill>
                  </a:tcPr>
                </a:tc>
              </a:tr>
              <a:tr h="1132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Outbound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C2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£30,365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C2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£0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C2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 </a:t>
                      </a:r>
                      <a:r>
                        <a:rPr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£30,365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Cut</a:t>
                      </a:r>
                      <a:endParaRPr b="1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C2BD9"/>
                    </a:solidFill>
                  </a:tcPr>
                </a:tc>
              </a:tr>
            </a:tbl>
          </a:graphicData>
        </a:graphic>
      </p:graphicFrame>
      <p:sp>
        <p:nvSpPr>
          <p:cNvPr id="134" name="Google Shape;134;p20"/>
          <p:cNvSpPr txBox="1"/>
          <p:nvPr>
            <p:ph idx="4294967295" type="subTitle"/>
          </p:nvPr>
        </p:nvSpPr>
        <p:spPr>
          <a:xfrm>
            <a:off x="8753177" y="4746138"/>
            <a:ext cx="316800" cy="4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rPr lang="en-GB" sz="1200">
                <a:solidFill>
                  <a:srgbClr val="211A3B"/>
                </a:solidFill>
              </a:rPr>
              <a:t>8</a:t>
            </a:r>
            <a:endParaRPr sz="1200">
              <a:solidFill>
                <a:srgbClr val="211A3B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2000" y="809613"/>
            <a:ext cx="7162800" cy="433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1"/>
          <p:cNvSpPr txBox="1"/>
          <p:nvPr>
            <p:ph type="title"/>
          </p:nvPr>
        </p:nvSpPr>
        <p:spPr>
          <a:xfrm>
            <a:off x="311700" y="96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11A3B"/>
                </a:solidFill>
                <a:latin typeface="Poppins"/>
                <a:ea typeface="Poppins"/>
                <a:cs typeface="Poppins"/>
                <a:sym typeface="Poppins"/>
              </a:rPr>
              <a:t>Supplementary S</a:t>
            </a:r>
            <a:r>
              <a:rPr b="1" lang="en-GB">
                <a:solidFill>
                  <a:srgbClr val="211A3B"/>
                </a:solidFill>
                <a:latin typeface="Poppins"/>
                <a:ea typeface="Poppins"/>
                <a:cs typeface="Poppins"/>
                <a:sym typeface="Poppins"/>
              </a:rPr>
              <a:t>lides:</a:t>
            </a:r>
            <a:endParaRPr b="1">
              <a:solidFill>
                <a:srgbClr val="211A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5" name="Google Shape;145;p22"/>
          <p:cNvGraphicFramePr/>
          <p:nvPr/>
        </p:nvGraphicFramePr>
        <p:xfrm>
          <a:off x="404650" y="164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{313CD7C3-7929-4B9D-AAF9-FEFC86B698EC}</a:tableStyleId>
              </a:tblPr>
              <a:tblGrid>
                <a:gridCol w="2264450"/>
                <a:gridCol w="1750675"/>
                <a:gridCol w="1769675"/>
                <a:gridCol w="1465250"/>
                <a:gridCol w="1084625"/>
              </a:tblGrid>
              <a:tr h="625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Channel</a:t>
                      </a:r>
                      <a:endParaRPr b="1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211A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Customers</a:t>
                      </a:r>
                      <a:endParaRPr b="1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211A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Percentage</a:t>
                      </a:r>
                      <a:endParaRPr b="1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211A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LTV:CAC</a:t>
                      </a:r>
                      <a:endParaRPr b="1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211A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Index</a:t>
                      </a:r>
                      <a:endParaRPr b="1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211A3B"/>
                    </a:solidFill>
                  </a:tcPr>
                </a:tc>
              </a:tr>
              <a:tr h="659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Referral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1,875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11.9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14.74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159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8B5CF6"/>
                    </a:solidFill>
                  </a:tcPr>
                </a:tc>
              </a:tr>
              <a:tr h="659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Broker/IFA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6C2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979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6C2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6.2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6C2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6.28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6C2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329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6C2BD9"/>
                    </a:solidFill>
                  </a:tcPr>
                </a:tc>
              </a:tr>
              <a:tr h="659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Branch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2,481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15.8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5.78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274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8B5CF6"/>
                    </a:solidFill>
                  </a:tcPr>
                </a:tc>
              </a:tr>
              <a:tr h="659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Online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6C2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3,851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6C2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24.5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6C2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4.63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6C2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50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6C2BD9"/>
                    </a:solidFill>
                  </a:tcPr>
                </a:tc>
              </a:tr>
              <a:tr h="659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Comparison Site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4,584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29.1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3.00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8B5CF6"/>
                    </a:solidFill>
                  </a:tcPr>
                </a:tc>
              </a:tr>
              <a:tr h="659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Outbound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6C2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1,962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6C2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12.5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6C2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1.70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6C2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24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6C2BD9"/>
                    </a:solidFill>
                  </a:tcPr>
                </a:tc>
              </a:tr>
            </a:tbl>
          </a:graphicData>
        </a:graphic>
      </p:graphicFrame>
      <p:sp>
        <p:nvSpPr>
          <p:cNvPr id="146" name="Google Shape;146;p22"/>
          <p:cNvSpPr txBox="1"/>
          <p:nvPr>
            <p:ph idx="4294967295" type="subTitle"/>
          </p:nvPr>
        </p:nvSpPr>
        <p:spPr>
          <a:xfrm>
            <a:off x="8753177" y="4746138"/>
            <a:ext cx="316800" cy="4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rPr lang="en-GB" sz="1200">
                <a:solidFill>
                  <a:srgbClr val="211A3B"/>
                </a:solidFill>
              </a:rPr>
              <a:t>9</a:t>
            </a:r>
            <a:endParaRPr sz="1200">
              <a:solidFill>
                <a:srgbClr val="211A3B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3" title="branch-new-customers-by-mont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142" y="68299"/>
            <a:ext cx="8165717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11A3B"/>
                </a:solidFill>
                <a:latin typeface="Poppins"/>
                <a:ea typeface="Poppins"/>
                <a:cs typeface="Poppins"/>
                <a:sym typeface="Poppins"/>
              </a:rPr>
              <a:t>What Are Our </a:t>
            </a:r>
            <a:r>
              <a:rPr b="1" lang="en-GB">
                <a:solidFill>
                  <a:srgbClr val="6C2BD9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b="1" lang="en-GB">
                <a:solidFill>
                  <a:srgbClr val="6C2BD9"/>
                </a:solidFill>
                <a:latin typeface="Poppins"/>
                <a:ea typeface="Poppins"/>
                <a:cs typeface="Poppins"/>
                <a:sym typeface="Poppins"/>
              </a:rPr>
              <a:t>ssumptions?</a:t>
            </a:r>
            <a:endParaRPr b="1">
              <a:solidFill>
                <a:srgbClr val="6C2B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7" name="Google Shape;157;p24"/>
          <p:cNvSpPr txBox="1"/>
          <p:nvPr>
            <p:ph idx="1" type="body"/>
          </p:nvPr>
        </p:nvSpPr>
        <p:spPr>
          <a:xfrm>
            <a:off x="4905750" y="1526025"/>
            <a:ext cx="3999900" cy="30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b="1" sz="1300">
              <a:solidFill>
                <a:srgbClr val="6C2BD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b="1" sz="1300">
              <a:solidFill>
                <a:srgbClr val="6C2BD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b="1" sz="1300">
              <a:solidFill>
                <a:srgbClr val="6C2BD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n-GB" sz="1300">
                <a:solidFill>
                  <a:srgbClr val="6C2BD9"/>
                </a:solidFill>
                <a:latin typeface="Lato"/>
                <a:ea typeface="Lato"/>
                <a:cs typeface="Lato"/>
                <a:sym typeface="Lato"/>
              </a:rPr>
              <a:t>Fairness </a:t>
            </a:r>
            <a:r>
              <a:rPr lang="en-GB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- 12 months minimum activity was verified to ensure fairness when comparing 12 month churn for different channels</a:t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8" name="Google Shape;158;p24"/>
          <p:cNvSpPr txBox="1"/>
          <p:nvPr>
            <p:ph idx="4294967295" type="subTitle"/>
          </p:nvPr>
        </p:nvSpPr>
        <p:spPr>
          <a:xfrm>
            <a:off x="8753177" y="4746138"/>
            <a:ext cx="316800" cy="4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rPr lang="en-GB" sz="1200">
                <a:solidFill>
                  <a:srgbClr val="211A3B"/>
                </a:solidFill>
              </a:rPr>
              <a:t>6</a:t>
            </a:r>
            <a:endParaRPr sz="1200">
              <a:solidFill>
                <a:srgbClr val="211A3B"/>
              </a:solidFill>
            </a:endParaRPr>
          </a:p>
        </p:txBody>
      </p:sp>
      <p:sp>
        <p:nvSpPr>
          <p:cNvPr id="159" name="Google Shape;159;p24"/>
          <p:cNvSpPr txBox="1"/>
          <p:nvPr>
            <p:ph idx="1" type="body"/>
          </p:nvPr>
        </p:nvSpPr>
        <p:spPr>
          <a:xfrm>
            <a:off x="311700" y="1483900"/>
            <a:ext cx="3999900" cy="30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-GB" sz="1300">
                <a:solidFill>
                  <a:srgbClr val="6C2BD9"/>
                </a:solidFill>
              </a:rPr>
              <a:t>Churn rate</a:t>
            </a:r>
            <a:r>
              <a:rPr lang="en-GB" sz="1300">
                <a:solidFill>
                  <a:srgbClr val="8B5CF6"/>
                </a:solidFill>
              </a:rPr>
              <a:t> - </a:t>
            </a:r>
            <a:r>
              <a:rPr lang="en-GB" sz="1300">
                <a:solidFill>
                  <a:schemeClr val="dk1"/>
                </a:solidFill>
              </a:rPr>
              <a:t>Our LTV rests on the rate at which customers leave, which we assumed stays constant over their life. </a:t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300"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n-GB" sz="1300">
                <a:solidFill>
                  <a:srgbClr val="6C2BD9"/>
                </a:solidFill>
                <a:latin typeface="Lato"/>
                <a:ea typeface="Lato"/>
                <a:cs typeface="Lato"/>
                <a:sym typeface="Lato"/>
              </a:rPr>
              <a:t>High Value Customers </a:t>
            </a:r>
            <a:r>
              <a:rPr b="1"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- </a:t>
            </a:r>
            <a:r>
              <a:rPr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defined as the customers in the top 20% of total revenue.</a:t>
            </a:r>
            <a:endParaRPr sz="1300"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300"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rPr b="1" lang="en-GB" sz="1300">
                <a:solidFill>
                  <a:srgbClr val="6C2BD9"/>
                </a:solidFill>
                <a:latin typeface="Lato"/>
                <a:ea typeface="Lato"/>
                <a:cs typeface="Lato"/>
                <a:sym typeface="Lato"/>
              </a:rPr>
              <a:t>“Unknown” </a:t>
            </a:r>
            <a:r>
              <a:rPr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and </a:t>
            </a:r>
            <a:r>
              <a:rPr b="1" lang="en-GB" sz="1300">
                <a:solidFill>
                  <a:srgbClr val="6C2BD9"/>
                </a:solidFill>
                <a:latin typeface="Lato"/>
                <a:ea typeface="Lato"/>
                <a:cs typeface="Lato"/>
                <a:sym typeface="Lato"/>
              </a:rPr>
              <a:t>“No record at all” </a:t>
            </a:r>
            <a:r>
              <a:rPr lang="en-GB" sz="1300">
                <a:solidFill>
                  <a:srgbClr val="211A3B"/>
                </a:solidFill>
                <a:latin typeface="Lato"/>
                <a:ea typeface="Lato"/>
                <a:cs typeface="Lato"/>
                <a:sym typeface="Lato"/>
              </a:rPr>
              <a:t>- were treated as the same thing</a:t>
            </a:r>
            <a:endParaRPr sz="1300">
              <a:solidFill>
                <a:srgbClr val="211A3B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